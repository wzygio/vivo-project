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9BD5"/>
          </a:solidFill>
          <a:ln w="76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804672"/>
            <a:ext cx="54864" cy="1188720"/>
          </a:xfrm>
          <a:prstGeom prst="rect">
            <a:avLst/>
          </a:prstGeom>
          <a:solidFill>
            <a:srgbClr val="ED7D31"/>
          </a:solidFill>
          <a:ln w="762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2139696"/>
            <a:ext cx="54864" cy="1188720"/>
          </a:xfrm>
          <a:prstGeom prst="rect">
            <a:avLst/>
          </a:prstGeom>
          <a:solidFill>
            <a:srgbClr val="70AD47"/>
          </a:solidFill>
          <a:ln w="762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2011680" cy="228600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5B9BD5"/>
                </a:solidFill>
                <a:latin typeface="Microsoft YaHei"/>
              </a:rPr>
              <a:t>00 表格索引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7132320" cy="3840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44546A"/>
                </a:solidFill>
                <a:latin typeface="Microsoft YaHei"/>
              </a:rPr>
              <a:t>客户专项年中总结：建议数据表模板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58952"/>
            <a:ext cx="7680960" cy="2194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07884"/>
                </a:solidFill>
                <a:latin typeface="Microsoft YaHei"/>
              </a:rPr>
              <a:t>独立 PPT，可直接复制表格或填入真实数据后支撑图表页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0808208" cy="0"/>
          </a:xfrm>
          <a:prstGeom prst="line">
            <a:avLst/>
          </a:prstGeom>
          <a:ln w="12700">
            <a:solidFill>
              <a:srgbClr val="CD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201400" y="6355080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707884"/>
                </a:solidFill>
                <a:latin typeface="Microsoft YaHei"/>
              </a:rPr>
              <a:t>01 / 06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1298448"/>
          <a:ext cx="1078992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965960"/>
                <a:gridCol w="1828800"/>
                <a:gridCol w="3291840"/>
                <a:gridCol w="2651760"/>
              </a:tblGrid>
              <a:tr h="63246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建议表格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支撑图表/页面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关键字段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</a:rPr>
                        <a:t>口径备注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系统搭建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系统搭建里程碑表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进度时间轴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阶段、任务、完成率、责任人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按周/月更新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系统搭建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系统模块建设清单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模块状态卡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模块、状态、接口/规则数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状态口径统一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风险品处置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风险品处置闭环明细表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处置明细/责任闭环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状态、责任部门、截止日期、闭环说明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对应截图提示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风险品处置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风险品处置统计汇总表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KPI 卡片/漏斗图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预警数、风险品数、处置数、闭环率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用于领导页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制程提升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制程提升改善项目表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CPK 对比/进展矩阵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优化前后、提升幅度、固化输出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44546A"/>
                          </a:solidFill>
                          <a:latin typeface="Microsoft YaHei"/>
                        </a:rPr>
                        <a:t>体现改善收益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30352" y="5943600"/>
            <a:ext cx="10744200" cy="347472"/>
          </a:xfrm>
          <a:prstGeom prst="rect">
            <a:avLst/>
          </a:prstGeom>
          <a:solidFill>
            <a:srgbClr val="E7ECF4"/>
          </a:solidFill>
          <a:ln w="7620"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016752"/>
            <a:ext cx="10469880" cy="1554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07884"/>
                </a:solidFill>
                <a:latin typeface="Microsoft YaHei"/>
              </a:rPr>
              <a:t>建议：先用这些表统一数据口径，再回填到三页汇报模板中的图表占位。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9BD5"/>
          </a:solidFill>
          <a:ln w="76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804672"/>
            <a:ext cx="54864" cy="1188720"/>
          </a:xfrm>
          <a:prstGeom prst="rect">
            <a:avLst/>
          </a:prstGeom>
          <a:solidFill>
            <a:srgbClr val="ED7D31"/>
          </a:solidFill>
          <a:ln w="762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2139696"/>
            <a:ext cx="54864" cy="1188720"/>
          </a:xfrm>
          <a:prstGeom prst="rect">
            <a:avLst/>
          </a:prstGeom>
          <a:solidFill>
            <a:srgbClr val="70AD47"/>
          </a:solidFill>
          <a:ln w="762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2011680" cy="228600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5B9BD5"/>
                </a:solidFill>
                <a:latin typeface="Microsoft YaHei"/>
              </a:rPr>
              <a:t>01 系统搭建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7132320" cy="3840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44546A"/>
                </a:solidFill>
                <a:latin typeface="Microsoft YaHei"/>
              </a:rPr>
              <a:t>系统搭建里程碑表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58952"/>
            <a:ext cx="7680960" cy="2194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07884"/>
                </a:solidFill>
                <a:latin typeface="Microsoft YaHei"/>
              </a:rPr>
              <a:t>用于填充系统搭建进展时间轴，呈现阶段、进度、责任和下一步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0808208" cy="0"/>
          </a:xfrm>
          <a:prstGeom prst="line">
            <a:avLst/>
          </a:prstGeom>
          <a:ln w="12700">
            <a:solidFill>
              <a:srgbClr val="CD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201400" y="6355080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707884"/>
                </a:solidFill>
                <a:latin typeface="Microsoft YaHei"/>
              </a:rPr>
              <a:t>02 / 06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298448"/>
          <a:ext cx="10844784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331720"/>
                <a:gridCol w="1143000"/>
                <a:gridCol w="1234440"/>
                <a:gridCol w="713232"/>
                <a:gridCol w="713232"/>
                <a:gridCol w="1965960"/>
                <a:gridCol w="1828800"/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关键任务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计划完成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实际进度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完成率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责任人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风险/阻塞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下一步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需求梳理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业务口径与数据范围确认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YYYY-MM-DD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已完成/进行中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规则配置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预警规则、阈值、产品清单配置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YYYY-MM-DD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已完成/进行中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数据接入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数据源、接口、权限联通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YYYY-MM-DD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已完成/进行中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看板联调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报表看板、筛选条件、权限校验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YYYY-MM-DD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已完成/进行中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试运行迭代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用户反馈、问题修复、上线评审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YYYY-MM-DD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计划中/进行中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30352" y="5943600"/>
            <a:ext cx="10744200" cy="347472"/>
          </a:xfrm>
          <a:prstGeom prst="rect">
            <a:avLst/>
          </a:prstGeom>
          <a:solidFill>
            <a:srgbClr val="E7ECF4"/>
          </a:solidFill>
          <a:ln w="7620"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016752"/>
            <a:ext cx="10469880" cy="1554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07884"/>
                </a:solidFill>
                <a:latin typeface="Microsoft YaHei"/>
              </a:rPr>
              <a:t>图表映射：阶段 + 计划完成 + 实际进度可生成里程碑时间轴；完成率可生成进度条。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9BD5"/>
          </a:solidFill>
          <a:ln w="76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804672"/>
            <a:ext cx="54864" cy="1188720"/>
          </a:xfrm>
          <a:prstGeom prst="rect">
            <a:avLst/>
          </a:prstGeom>
          <a:solidFill>
            <a:srgbClr val="ED7D31"/>
          </a:solidFill>
          <a:ln w="762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2139696"/>
            <a:ext cx="54864" cy="1188720"/>
          </a:xfrm>
          <a:prstGeom prst="rect">
            <a:avLst/>
          </a:prstGeom>
          <a:solidFill>
            <a:srgbClr val="70AD47"/>
          </a:solidFill>
          <a:ln w="762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2011680" cy="228600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5B9BD5"/>
                </a:solidFill>
                <a:latin typeface="Microsoft YaHei"/>
              </a:rPr>
              <a:t>01 系统搭建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7132320" cy="3840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44546A"/>
                </a:solidFill>
                <a:latin typeface="Microsoft YaHei"/>
              </a:rPr>
              <a:t>系统模块建设清单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58952"/>
            <a:ext cx="7680960" cy="2194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07884"/>
                </a:solidFill>
                <a:latin typeface="Microsoft YaHei"/>
              </a:rPr>
              <a:t>用于填充关键模块状态卡，展示系统能力沉淀和建设覆盖范围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0808208" cy="0"/>
          </a:xfrm>
          <a:prstGeom prst="line">
            <a:avLst/>
          </a:prstGeom>
          <a:ln w="12700">
            <a:solidFill>
              <a:srgbClr val="CD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201400" y="6355080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707884"/>
                </a:solidFill>
                <a:latin typeface="Microsoft YaHei"/>
              </a:rPr>
              <a:t>03 / 06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1298448"/>
          <a:ext cx="110642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926080"/>
                <a:gridCol w="1005840"/>
                <a:gridCol w="960120"/>
                <a:gridCol w="1554480"/>
                <a:gridCol w="822960"/>
                <a:gridCol w="2560320"/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模块名称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建设内容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当前状态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接口/规则数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上线范围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数据源接入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接入 XX 类数据源，覆盖 XX 条记录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 产品/线体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预警规则配置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配置风险触发规则、阈值和分层口径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 产品/线体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处置流转闭环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建立责任分派、跟进、闭环说明字段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 部门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报表看板发布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输出日报/周报/月报与专项跟踪看板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 用户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权限与运维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配置账号权限、操作记录、问题响应机制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 角色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30352" y="5943600"/>
            <a:ext cx="10744200" cy="347472"/>
          </a:xfrm>
          <a:prstGeom prst="rect">
            <a:avLst/>
          </a:prstGeom>
          <a:solidFill>
            <a:srgbClr val="E7ECF4"/>
          </a:solidFill>
          <a:ln w="7620"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016752"/>
            <a:ext cx="10469880" cy="1554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07884"/>
                </a:solidFill>
                <a:latin typeface="Microsoft YaHei"/>
              </a:rPr>
              <a:t>图表映射：当前状态可生成模块状态卡；接口/规则数可生成小型 KPI。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9BD5"/>
          </a:solidFill>
          <a:ln w="76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804672"/>
            <a:ext cx="54864" cy="1188720"/>
          </a:xfrm>
          <a:prstGeom prst="rect">
            <a:avLst/>
          </a:prstGeom>
          <a:solidFill>
            <a:srgbClr val="ED7D31"/>
          </a:solidFill>
          <a:ln w="762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2139696"/>
            <a:ext cx="54864" cy="1188720"/>
          </a:xfrm>
          <a:prstGeom prst="rect">
            <a:avLst/>
          </a:prstGeom>
          <a:solidFill>
            <a:srgbClr val="70AD47"/>
          </a:solidFill>
          <a:ln w="762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2011680" cy="228600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5B9BD5"/>
                </a:solidFill>
                <a:latin typeface="Microsoft YaHei"/>
              </a:rPr>
              <a:t>02 风险品处置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7132320" cy="3840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44546A"/>
                </a:solidFill>
                <a:latin typeface="Microsoft YaHei"/>
              </a:rPr>
              <a:t>风险品处置闭环明细表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58952"/>
            <a:ext cx="7680960" cy="2194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07884"/>
                </a:solidFill>
                <a:latin typeface="Microsoft YaHei"/>
              </a:rPr>
              <a:t>对应“已关闭 / 持续跟进 / 升级专项 / 责任部门 / 截止日期 / 闭环说明”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0808208" cy="0"/>
          </a:xfrm>
          <a:prstGeom prst="line">
            <a:avLst/>
          </a:prstGeom>
          <a:ln w="12700">
            <a:solidFill>
              <a:srgbClr val="CD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201400" y="6355080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707884"/>
                </a:solidFill>
                <a:latin typeface="Microsoft YaHei"/>
              </a:rPr>
              <a:t>04 / 06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9184" y="1298448"/>
          <a:ext cx="11539728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43000"/>
                <a:gridCol w="1234440"/>
                <a:gridCol w="658368"/>
                <a:gridCol w="777240"/>
                <a:gridCol w="987552"/>
                <a:gridCol w="960120"/>
                <a:gridCol w="1097280"/>
                <a:gridCol w="4270248"/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产品/型号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预警来源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预警数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风险等级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处置状态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责任部门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截止日期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闭环说明</a:t>
                      </a:r>
                    </a:p>
                  </a:txBody>
                  <a:tcPr marL="36576" marR="36576" marT="27432" marB="27432" anchor="ctr">
                    <a:solidFill>
                      <a:srgbClr val="4472C4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产品 A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规则/人工/系统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高/中/低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已关闭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 部门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YYYY-MM-DD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已完成 XX 措施，结果待填充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产品 B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规则/人工/系统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高/中/低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持续跟进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 部门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YYYY-MM-DD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当前阻塞/下一动作待填充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产品 C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规则/人工/系统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高/中/低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升级专项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 部门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YYYY-MM-DD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升级原因与专项编号待填充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产品 D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规则/人工/系统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高/中/低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待判定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 部门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YYYY-MM-DD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产品 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规则/人工/系统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高/中/低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待判定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 部门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YYYY-MM-DD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30352" y="5943600"/>
            <a:ext cx="10744200" cy="347472"/>
          </a:xfrm>
          <a:prstGeom prst="rect">
            <a:avLst/>
          </a:prstGeom>
          <a:solidFill>
            <a:srgbClr val="E7ECF4"/>
          </a:solidFill>
          <a:ln w="7620"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016752"/>
            <a:ext cx="10469880" cy="1554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07884"/>
                </a:solidFill>
                <a:latin typeface="Microsoft YaHei"/>
              </a:rPr>
              <a:t>建议状态枚举：已关闭、持续跟进、升级专项、待判定。这样可直接统计漏斗和闭环率。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9BD5"/>
          </a:solidFill>
          <a:ln w="76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804672"/>
            <a:ext cx="54864" cy="1188720"/>
          </a:xfrm>
          <a:prstGeom prst="rect">
            <a:avLst/>
          </a:prstGeom>
          <a:solidFill>
            <a:srgbClr val="ED7D31"/>
          </a:solidFill>
          <a:ln w="762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2139696"/>
            <a:ext cx="54864" cy="1188720"/>
          </a:xfrm>
          <a:prstGeom prst="rect">
            <a:avLst/>
          </a:prstGeom>
          <a:solidFill>
            <a:srgbClr val="70AD47"/>
          </a:solidFill>
          <a:ln w="762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2011680" cy="228600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5B9BD5"/>
                </a:solidFill>
                <a:latin typeface="Microsoft YaHei"/>
              </a:rPr>
              <a:t>02 风险品处置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7132320" cy="3840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44546A"/>
                </a:solidFill>
                <a:latin typeface="Microsoft YaHei"/>
              </a:rPr>
              <a:t>风险品处置统计汇总表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58952"/>
            <a:ext cx="7680960" cy="2194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07884"/>
                </a:solidFill>
                <a:latin typeface="Microsoft YaHei"/>
              </a:rPr>
              <a:t>用于填充 KPI 卡片、漏斗图和闭环率说明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0808208" cy="0"/>
          </a:xfrm>
          <a:prstGeom prst="line">
            <a:avLst/>
          </a:prstGeom>
          <a:ln w="12700">
            <a:solidFill>
              <a:srgbClr val="CD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201400" y="6355080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707884"/>
                </a:solidFill>
                <a:latin typeface="Microsoft YaHei"/>
              </a:rPr>
              <a:t>05 / 06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93776" y="1225296"/>
          <a:ext cx="11109959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777240"/>
                <a:gridCol w="1005840"/>
                <a:gridCol w="914400"/>
                <a:gridCol w="3977639"/>
                <a:gridCol w="3017520"/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统计项</a:t>
                      </a:r>
                    </a:p>
                  </a:txBody>
                  <a:tcPr marL="36576" marR="36576" marT="27432" marB="27432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L="36576" marR="36576" marT="27432" marB="27432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占比/转化率</a:t>
                      </a:r>
                    </a:p>
                  </a:txBody>
                  <a:tcPr marL="36576" marR="36576" marT="27432" marB="27432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环比/同比</a:t>
                      </a:r>
                    </a:p>
                  </a:txBody>
                  <a:tcPr marL="36576" marR="36576" marT="27432" marB="27432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口径说明</a:t>
                      </a:r>
                    </a:p>
                  </a:txBody>
                  <a:tcPr marL="36576" marR="36576" marT="27432" marB="27432"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图表用途</a:t>
                      </a:r>
                    </a:p>
                  </a:txBody>
                  <a:tcPr marL="36576" marR="36576" marT="27432" marB="27432" anchor="ctr">
                    <a:solidFill>
                      <a:srgbClr val="ED7D3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触发预警数量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统计期内触发的全部预警条数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顶部 KPI / 漏斗第一层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风险产品数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去重后的风险产品/型号数量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顶部 KPI / 漏斗第二层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已关闭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已完成处置并有闭环说明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处置分类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持续跟进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仍在责任部门推进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处置分类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升级专项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需专项机制跟踪的风险品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处置分类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产品处置数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已关闭 + 已进入专项闭环口径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顶部 KPI / 漏斗第三层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闭环率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产品处置数 / 风险产品数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44546A"/>
                          </a:solidFill>
                          <a:latin typeface="Microsoft YaHei"/>
                        </a:rPr>
                        <a:t>漏斗转化率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30352" y="5943600"/>
            <a:ext cx="10744200" cy="347472"/>
          </a:xfrm>
          <a:prstGeom prst="rect">
            <a:avLst/>
          </a:prstGeom>
          <a:solidFill>
            <a:srgbClr val="E7ECF4"/>
          </a:solidFill>
          <a:ln w="7620"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016752"/>
            <a:ext cx="10469880" cy="1554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07884"/>
                </a:solidFill>
                <a:latin typeface="Microsoft YaHei"/>
              </a:rPr>
              <a:t>图表映射：数量字段生成 KPI；统计项顺序可直接作为漏斗层级和处置分类。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B9BD5"/>
          </a:solidFill>
          <a:ln w="762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804672"/>
            <a:ext cx="54864" cy="1188720"/>
          </a:xfrm>
          <a:prstGeom prst="rect">
            <a:avLst/>
          </a:prstGeom>
          <a:solidFill>
            <a:srgbClr val="ED7D31"/>
          </a:solidFill>
          <a:ln w="762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2139696"/>
            <a:ext cx="54864" cy="1188720"/>
          </a:xfrm>
          <a:prstGeom prst="rect">
            <a:avLst/>
          </a:prstGeom>
          <a:solidFill>
            <a:srgbClr val="70AD47"/>
          </a:solidFill>
          <a:ln w="762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55448"/>
            <a:ext cx="2011680" cy="228600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900" b="1">
                <a:solidFill>
                  <a:srgbClr val="5B9BD5"/>
                </a:solidFill>
                <a:latin typeface="Microsoft YaHei"/>
              </a:rPr>
              <a:t>03 制程提升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84048"/>
            <a:ext cx="7132320" cy="3840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44546A"/>
                </a:solidFill>
                <a:latin typeface="Microsoft YaHei"/>
              </a:rPr>
              <a:t>制程提升改善项目表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58952"/>
            <a:ext cx="7680960" cy="2194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07884"/>
                </a:solidFill>
                <a:latin typeface="Microsoft YaHei"/>
              </a:rPr>
              <a:t>用于填充 CPK 优化、流程优化和专项进展矩阵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024128"/>
            <a:ext cx="10808208" cy="0"/>
          </a:xfrm>
          <a:prstGeom prst="line">
            <a:avLst/>
          </a:prstGeom>
          <a:ln w="12700">
            <a:solidFill>
              <a:srgbClr val="CDD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201400" y="6355080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r"/>
            <a:r>
              <a:rPr sz="800" b="0">
                <a:solidFill>
                  <a:srgbClr val="707884"/>
                </a:solidFill>
                <a:latin typeface="Microsoft YaHei"/>
              </a:rPr>
              <a:t>06 / 06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10896" y="1298448"/>
          <a:ext cx="115671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417320"/>
                <a:gridCol w="1554480"/>
                <a:gridCol w="2057400"/>
                <a:gridCol w="914400"/>
                <a:gridCol w="914400"/>
                <a:gridCol w="822960"/>
                <a:gridCol w="822960"/>
                <a:gridCol w="2679192"/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 marL="36576" marR="36576" marT="27432" marB="27432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专项/工序</a:t>
                      </a:r>
                    </a:p>
                  </a:txBody>
                  <a:tcPr marL="36576" marR="36576" marT="27432" marB="27432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问题点</a:t>
                      </a:r>
                    </a:p>
                  </a:txBody>
                  <a:tcPr marL="36576" marR="36576" marT="27432" marB="27432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优化动作</a:t>
                      </a:r>
                    </a:p>
                  </a:txBody>
                  <a:tcPr marL="36576" marR="36576" marT="27432" marB="27432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CPK 优化前</a:t>
                      </a:r>
                    </a:p>
                  </a:txBody>
                  <a:tcPr marL="36576" marR="36576" marT="27432" marB="27432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CPK 优化后</a:t>
                      </a:r>
                    </a:p>
                  </a:txBody>
                  <a:tcPr marL="36576" marR="36576" marT="27432" marB="27432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提升幅度</a:t>
                      </a:r>
                    </a:p>
                  </a:txBody>
                  <a:tcPr marL="36576" marR="36576" marT="27432" marB="27432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当前进度</a:t>
                      </a:r>
                    </a:p>
                  </a:txBody>
                  <a:tcPr marL="36576" marR="36576" marT="27432" marB="27432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00" b="1">
                          <a:solidFill>
                            <a:srgbClr val="FFFFFF"/>
                          </a:solidFill>
                          <a:latin typeface="Microsoft YaHei"/>
                        </a:rPr>
                        <a:t>固化输出</a:t>
                      </a:r>
                    </a:p>
                  </a:txBody>
                  <a:tcPr marL="36576" marR="36576" marT="27432" marB="27432" anchor="ctr">
                    <a:solidFill>
                      <a:srgbClr val="70AD4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专项 A / 工序 A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SOP/规则/看板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专项 B / 工序 B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SOP/规则/看板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专项 C / 工序 C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SOP/规则/看板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流程优化项 D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流程文件/培训记录</a:t>
                      </a:r>
                    </a:p>
                  </a:txBody>
                  <a:tcPr marL="36576" marR="36576" marT="27432" marB="27432" anchor="ctr">
                    <a:solidFill>
                      <a:srgbClr val="F7FAFD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流程优化项 E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待填充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-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XX%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00" b="0">
                          <a:solidFill>
                            <a:srgbClr val="44546A"/>
                          </a:solidFill>
                          <a:latin typeface="Microsoft YaHei"/>
                        </a:rPr>
                        <a:t>流程文件/培训记录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30352" y="5943600"/>
            <a:ext cx="10744200" cy="347472"/>
          </a:xfrm>
          <a:prstGeom prst="rect">
            <a:avLst/>
          </a:prstGeom>
          <a:solidFill>
            <a:srgbClr val="E7ECF4"/>
          </a:solidFill>
          <a:ln w="7620">
            <a:solidFill>
              <a:srgbClr val="C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016752"/>
            <a:ext cx="10469880" cy="155448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07884"/>
                </a:solidFill>
                <a:latin typeface="Microsoft YaHei"/>
              </a:rPr>
              <a:t>图表映射：CPK 优化前后生成对比柱状图；当前进度生成专项进度条；固化输出体现改善沉淀。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