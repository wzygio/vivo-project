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01168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01 专项项目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315200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Microsoft YaHei"/>
              </a:rPr>
              <a:t>图一项次整理为专项项目清单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93268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将原“移班专项 / PT 专项遗留”项次转换为可跟踪、可汇报、可落责的专项项目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43000"/>
            <a:ext cx="10954512" cy="0"/>
          </a:xfrm>
          <a:prstGeom prst="line">
            <a:avLst/>
          </a:prstGeom>
          <a:ln w="1270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54864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A6A6A6"/>
                </a:solidFill>
                <a:latin typeface="Microsoft YaHei"/>
              </a:rPr>
              <a:t>01 / 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9184" y="1353312"/>
          <a:ext cx="1097279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874519"/>
                <a:gridCol w="3246120"/>
                <a:gridCol w="2011680"/>
                <a:gridCol w="2331720"/>
                <a:gridCol w="105156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32004" marR="32004" marT="22860" marB="2286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Microsoft YaHei"/>
                        </a:rPr>
                        <a:t>专项项目</a:t>
                      </a:r>
                    </a:p>
                  </a:txBody>
                  <a:tcPr marL="32004" marR="32004" marT="22860" marB="2286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Microsoft YaHei"/>
                        </a:rPr>
                        <a:t>来源项次</a:t>
                      </a:r>
                    </a:p>
                  </a:txBody>
                  <a:tcPr marL="32004" marR="32004" marT="22860" marB="2286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Microsoft YaHei"/>
                        </a:rPr>
                        <a:t>专项目标</a:t>
                      </a:r>
                    </a:p>
                  </a:txBody>
                  <a:tcPr marL="32004" marR="32004" marT="22860" marB="2286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关键交付物</a:t>
                      </a:r>
                    </a:p>
                  </a:txBody>
                  <a:tcPr marL="32004" marR="32004" marT="22860" marB="2286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Microsoft YaHei"/>
                        </a:rPr>
                        <a:t>建议呈现</a:t>
                      </a:r>
                    </a:p>
                  </a:txBody>
                  <a:tcPr marL="32004" marR="32004" marT="22860" marB="22860" anchor="ctr">
                    <a:solidFill>
                      <a:srgbClr val="4472C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P01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报表上线与数据确认专项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电流电压、光学报表预计 6/22 上线测试，待确认最终提交数据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完成上线验证，固化最终数据提交口径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测试结论 / 数据清单 / 异常闭环记录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里程碑时间轴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P02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彩斑/点类不良 AVI 检验与复判标准专项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针对彩斑、点类不良提供 AVI 设备检验原理及算法，及人员复判标准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明确设备检验逻辑与人工复判一致性标准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检验原理 / 算法逻辑 / 复判 SOP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标准化矩阵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P03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Z571 放量与彩斑拦截优化专项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Z571 项目放量策划，针对上一代彩斑优化拦截措施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支撑 Z571 放量并降低彩斑风险外流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放量计划 / 拦截策略 / 验证结果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阶段甘特图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P04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CVD Mask 来料刮伤监控与处置专项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提供 CVD Mask 来料针对刮伤监控 rule 和处理方式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形成来料刮伤监控规则与快速处置流程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监控 rule / 判定标准 / 处置流程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流程闭环图</a:t>
                      </a:r>
                    </a:p>
                  </a:txBody>
                  <a:tcPr marL="32004" marR="32004" marT="22860" marB="22860" anchor="ctr">
                    <a:solidFill>
                      <a:srgbClr val="F9FBFE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P05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Particle 改善措施与效果预估专项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罗列 particle 改善措施及对策预估效果，设备优化可单独体现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量化 particle 改善动作及预估收益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措施清单 / 效果预估 / 设备优化项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44546A"/>
                          </a:solidFill>
                          <a:latin typeface="Microsoft YaHei"/>
                        </a:rPr>
                        <a:t>收益瀑布图</a:t>
                      </a:r>
                    </a:p>
                  </a:txBody>
                  <a:tcPr marL="32004" marR="3200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0352" y="5961888"/>
            <a:ext cx="10744200" cy="329184"/>
          </a:xfrm>
          <a:prstGeom prst="roundRect">
            <a:avLst/>
          </a:prstGeom>
          <a:solidFill>
            <a:srgbClr val="EBF4FD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035040"/>
            <a:ext cx="10424160" cy="14630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填充建议：后续可追加责任部门、计划完成日、当前状态、完成率、风险说明，用于周报/年中总结持续更新。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01168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02 专项看板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315200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Microsoft YaHei"/>
              </a:rPr>
              <a:t>专项项目推进看板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93268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用卡片形式体现项目类型、关键输出和汇报图表，适合作为项目管理页或汇总页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43000"/>
            <a:ext cx="10954512" cy="0"/>
          </a:xfrm>
          <a:prstGeom prst="line">
            <a:avLst/>
          </a:prstGeom>
          <a:ln w="1270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54864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A6A6A6"/>
                </a:solidFill>
                <a:latin typeface="Microsoft YaHei"/>
              </a:rPr>
              <a:t>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3154680" cy="4407408"/>
          </a:xfrm>
          <a:prstGeom prst="roundRect">
            <a:avLst/>
          </a:prstGeom>
          <a:solidFill>
            <a:srgbClr val="EBF4FD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256032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Microsoft YaHei"/>
              </a:rPr>
              <a:t>报表/数据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92224"/>
            <a:ext cx="502920" cy="4572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993392"/>
            <a:ext cx="27889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03120"/>
            <a:ext cx="41148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5B9BD5"/>
                </a:solidFill>
                <a:latin typeface="Microsoft YaHei"/>
              </a:rPr>
              <a:t>P01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084832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4546A"/>
                </a:solidFill>
                <a:latin typeface="Microsoft YaHei"/>
              </a:rPr>
              <a:t>报表上线与数据确认专项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496312"/>
            <a:ext cx="251460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A6A6A6"/>
                </a:solidFill>
                <a:latin typeface="Microsoft YaHei"/>
              </a:rPr>
              <a:t>输出：测试结论 / 数据清单 / 异常闭环记录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871216"/>
            <a:ext cx="251460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B9BD5"/>
                </a:solidFill>
                <a:latin typeface="Microsoft YaHei"/>
              </a:rPr>
              <a:t>图表：里程碑时间轴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1648" y="1353312"/>
            <a:ext cx="3154680" cy="4407408"/>
          </a:xfrm>
          <a:prstGeom prst="roundRect">
            <a:avLst/>
          </a:prstGeom>
          <a:solidFill>
            <a:srgbClr val="FFF3E4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490472"/>
            <a:ext cx="256032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Microsoft YaHei"/>
              </a:rPr>
              <a:t>检验/标准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792224"/>
            <a:ext cx="502920" cy="45720"/>
          </a:xfrm>
          <a:prstGeom prst="rect">
            <a:avLst/>
          </a:prstGeom>
          <a:solidFill>
            <a:srgbClr val="ED7D31"/>
          </a:solidFill>
          <a:ln w="762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24528" y="1993392"/>
            <a:ext cx="27889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2103120"/>
            <a:ext cx="41148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ED7D31"/>
                </a:solidFill>
                <a:latin typeface="Microsoft YaHei"/>
              </a:rPr>
              <a:t>P02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2084832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4546A"/>
                </a:solidFill>
                <a:latin typeface="Microsoft YaHei"/>
              </a:rPr>
              <a:t>彩斑/点类不良 AVI 检验与复判标准专项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496312"/>
            <a:ext cx="251460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A6A6A6"/>
                </a:solidFill>
                <a:latin typeface="Microsoft YaHei"/>
              </a:rPr>
              <a:t>输出：检验原理 / 算法逻辑 / 复判 SOP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871216"/>
            <a:ext cx="251460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ED7D31"/>
                </a:solidFill>
                <a:latin typeface="Microsoft YaHei"/>
              </a:rPr>
              <a:t>图表：标准化矩阵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3685032"/>
            <a:ext cx="27889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3794760"/>
            <a:ext cx="41148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ED7D31"/>
                </a:solidFill>
                <a:latin typeface="Microsoft YaHei"/>
              </a:rPr>
              <a:t>P04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3776472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4546A"/>
                </a:solidFill>
                <a:latin typeface="Microsoft YaHei"/>
              </a:rPr>
              <a:t>CVD Mask 来料刮伤监控与处置专项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187952"/>
            <a:ext cx="251460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A6A6A6"/>
                </a:solidFill>
                <a:latin typeface="Microsoft YaHei"/>
              </a:rPr>
              <a:t>输出：监控 rule / 判定标准 / 处置流程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4562856"/>
            <a:ext cx="251460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ED7D31"/>
                </a:solidFill>
                <a:latin typeface="Microsoft YaHei"/>
              </a:rPr>
              <a:t>图表：流程闭环图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8" y="1353312"/>
            <a:ext cx="3154680" cy="4407408"/>
          </a:xfrm>
          <a:prstGeom prst="roundRect">
            <a:avLst/>
          </a:prstGeom>
          <a:solidFill>
            <a:srgbClr val="EDF7EB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1490472"/>
            <a:ext cx="256032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Microsoft YaHei"/>
              </a:rPr>
              <a:t>放量/改善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792224"/>
            <a:ext cx="502920" cy="45720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99248" y="1993392"/>
            <a:ext cx="27889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2103120"/>
            <a:ext cx="41148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70AD47"/>
                </a:solidFill>
                <a:latin typeface="Microsoft YaHei"/>
              </a:rPr>
              <a:t>P03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084832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4546A"/>
                </a:solidFill>
                <a:latin typeface="Microsoft YaHei"/>
              </a:rPr>
              <a:t>Z571 放量与彩斑拦截优化专项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2496312"/>
            <a:ext cx="251460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A6A6A6"/>
                </a:solidFill>
                <a:latin typeface="Microsoft YaHei"/>
              </a:rPr>
              <a:t>输出：放量计划 / 拦截策略 / 验证结果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2871216"/>
            <a:ext cx="251460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70AD47"/>
                </a:solidFill>
                <a:latin typeface="Microsoft YaHei"/>
              </a:rPr>
              <a:t>图表：阶段甘特图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3685032"/>
            <a:ext cx="27889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5552" y="3794760"/>
            <a:ext cx="41148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70AD47"/>
                </a:solidFill>
                <a:latin typeface="Microsoft YaHei"/>
              </a:rPr>
              <a:t>P05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776472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4546A"/>
                </a:solidFill>
                <a:latin typeface="Microsoft YaHei"/>
              </a:rPr>
              <a:t>Particle 改善措施与效果预估专项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4187952"/>
            <a:ext cx="251460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A6A6A6"/>
                </a:solidFill>
                <a:latin typeface="Microsoft YaHei"/>
              </a:rPr>
              <a:t>输出：措施清单 / 效果预估 / 设备优化项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562856"/>
            <a:ext cx="251460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70AD47"/>
                </a:solidFill>
                <a:latin typeface="Microsoft YaHei"/>
              </a:rPr>
              <a:t>图表：收益瀑布图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5925312"/>
            <a:ext cx="10561320" cy="347472"/>
          </a:xfrm>
          <a:prstGeom prst="roundRect">
            <a:avLst/>
          </a:prstGeom>
          <a:solidFill>
            <a:srgbClr val="F9FBFE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6007608"/>
            <a:ext cx="10241280" cy="1554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可替换字段：状态（未启动/进行中/已关闭）、责任部门、截止日期、阻塞说明、闭环结论。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01168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03 CPK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315200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Microsoft YaHei"/>
              </a:rPr>
              <a:t>产品 A CPK 优化幅度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93268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按图二样式复制，产品名称、优化前后数值和提升幅度均可直接替换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43000"/>
            <a:ext cx="10954512" cy="0"/>
          </a:xfrm>
          <a:prstGeom prst="line">
            <a:avLst/>
          </a:prstGeom>
          <a:ln w="1270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54864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A6A6A6"/>
                </a:solidFill>
                <a:latin typeface="Microsoft YaHei"/>
              </a:rPr>
              <a:t>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78992"/>
            <a:ext cx="964692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664208" y="1901952"/>
            <a:ext cx="0" cy="3429000"/>
          </a:xfrm>
          <a:prstGeom prst="line">
            <a:avLst/>
          </a:prstGeom>
          <a:ln w="1524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64208" y="5330952"/>
            <a:ext cx="7086600" cy="0"/>
          </a:xfrm>
          <a:prstGeom prst="line">
            <a:avLst/>
          </a:prstGeom>
          <a:ln w="1524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71800" y="3120255"/>
            <a:ext cx="1508760" cy="2210696"/>
          </a:xfrm>
          <a:prstGeom prst="rect">
            <a:avLst/>
          </a:prstGeom>
          <a:solidFill>
            <a:srgbClr val="A6A6A6"/>
          </a:solidFill>
          <a:ln w="762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3023436"/>
            <a:ext cx="1508760" cy="2307515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800215"/>
            <a:ext cx="150876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Microsoft YaHei"/>
              </a:rPr>
              <a:t>1.37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703396"/>
            <a:ext cx="150876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Microsoft YaHei"/>
              </a:rPr>
              <a:t>1.43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495544"/>
            <a:ext cx="150876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6A6A6"/>
                </a:solidFill>
                <a:latin typeface="Microsoft YaHei"/>
              </a:rPr>
              <a:t>优化前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5495544"/>
            <a:ext cx="150876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6A6A6"/>
                </a:solidFill>
                <a:latin typeface="Microsoft YaHei"/>
              </a:rPr>
              <a:t>优化后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572768"/>
            <a:ext cx="1463040" cy="23774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B9BD5"/>
                </a:solidFill>
                <a:latin typeface="Microsoft YaHei"/>
              </a:rPr>
              <a:t>提升幅度 4%</a:t>
            </a:r>
          </a:p>
        </p:txBody>
      </p:sp>
      <p:sp>
        <p:nvSpPr>
          <p:cNvPr id="18" name="Right Arrow 17"/>
          <p:cNvSpPr/>
          <p:nvPr/>
        </p:nvSpPr>
        <p:spPr>
          <a:xfrm rot="19500000">
            <a:off x="4526280" y="1965960"/>
            <a:ext cx="1508760" cy="438912"/>
          </a:xfrm>
          <a:prstGeom prst="rightArrow">
            <a:avLst/>
          </a:prstGeom>
          <a:solidFill>
            <a:srgbClr val="FFE699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34272" y="1847088"/>
            <a:ext cx="1600200" cy="1280160"/>
          </a:xfrm>
          <a:prstGeom prst="roundRect">
            <a:avLst/>
          </a:prstGeom>
          <a:solidFill>
            <a:srgbClr val="EBF4FD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993392"/>
            <a:ext cx="128016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A6A6"/>
                </a:solidFill>
                <a:latin typeface="Microsoft YaHei"/>
              </a:rPr>
              <a:t>产品名称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67712"/>
            <a:ext cx="12801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4546A"/>
                </a:solidFill>
                <a:latin typeface="Microsoft YaHei"/>
              </a:rPr>
              <a:t>产品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688336"/>
            <a:ext cx="132588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A6A6A6"/>
                </a:solidFill>
                <a:latin typeface="Microsoft YaHei"/>
              </a:rPr>
              <a:t>备注：可替换为实际产品名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3438144"/>
            <a:ext cx="1600200" cy="1389888"/>
          </a:xfrm>
          <a:prstGeom prst="roundRect">
            <a:avLst/>
          </a:prstGeom>
          <a:solidFill>
            <a:srgbClr val="EDF7EB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566160"/>
            <a:ext cx="128016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A6A6"/>
                </a:solidFill>
                <a:latin typeface="Microsoft YaHei"/>
              </a:rPr>
              <a:t>数据口径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822191"/>
            <a:ext cx="1280160" cy="23774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70AD47"/>
                </a:solidFill>
                <a:latin typeface="Microsoft YaHei"/>
              </a:rPr>
              <a:t>CPK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4242816"/>
            <a:ext cx="132588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A6A6A6"/>
                </a:solidFill>
                <a:latin typeface="Microsoft YaHei"/>
              </a:rPr>
              <a:t>优化前/优化后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5742432"/>
            <a:ext cx="10058400" cy="310896"/>
          </a:xfrm>
          <a:prstGeom prst="roundRect">
            <a:avLst/>
          </a:prstGeom>
          <a:solidFill>
            <a:srgbClr val="F9FBFE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15584"/>
            <a:ext cx="9692640" cy="14630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填充提示：将 1.37、1.43 和提升幅度替换为该产品真实 CPK 数据；需要更多产品时可复制本页。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01168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03 CPK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315200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Microsoft YaHei"/>
              </a:rPr>
              <a:t>产品 B CPK 优化幅度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93268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按图二样式复制，产品名称、优化前后数值和提升幅度均可直接替换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43000"/>
            <a:ext cx="10954512" cy="0"/>
          </a:xfrm>
          <a:prstGeom prst="line">
            <a:avLst/>
          </a:prstGeom>
          <a:ln w="1270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54864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A6A6A6"/>
                </a:solidFill>
                <a:latin typeface="Microsoft YaHei"/>
              </a:rPr>
              <a:t>04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78992"/>
            <a:ext cx="964692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664208" y="1901952"/>
            <a:ext cx="0" cy="3429000"/>
          </a:xfrm>
          <a:prstGeom prst="line">
            <a:avLst/>
          </a:prstGeom>
          <a:ln w="1524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64208" y="5330952"/>
            <a:ext cx="7086600" cy="0"/>
          </a:xfrm>
          <a:prstGeom prst="line">
            <a:avLst/>
          </a:prstGeom>
          <a:ln w="1524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71800" y="3120255"/>
            <a:ext cx="1508760" cy="2210696"/>
          </a:xfrm>
          <a:prstGeom prst="rect">
            <a:avLst/>
          </a:prstGeom>
          <a:solidFill>
            <a:srgbClr val="A6A6A6"/>
          </a:solidFill>
          <a:ln w="762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3023436"/>
            <a:ext cx="1508760" cy="2307515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800215"/>
            <a:ext cx="150876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Microsoft YaHei"/>
              </a:rPr>
              <a:t>1.37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703396"/>
            <a:ext cx="150876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Microsoft YaHei"/>
              </a:rPr>
              <a:t>1.43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495544"/>
            <a:ext cx="150876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6A6A6"/>
                </a:solidFill>
                <a:latin typeface="Microsoft YaHei"/>
              </a:rPr>
              <a:t>优化前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5495544"/>
            <a:ext cx="150876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6A6A6"/>
                </a:solidFill>
                <a:latin typeface="Microsoft YaHei"/>
              </a:rPr>
              <a:t>优化后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572768"/>
            <a:ext cx="1463040" cy="23774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B9BD5"/>
                </a:solidFill>
                <a:latin typeface="Microsoft YaHei"/>
              </a:rPr>
              <a:t>提升幅度 4%</a:t>
            </a:r>
          </a:p>
        </p:txBody>
      </p:sp>
      <p:sp>
        <p:nvSpPr>
          <p:cNvPr id="18" name="Right Arrow 17"/>
          <p:cNvSpPr/>
          <p:nvPr/>
        </p:nvSpPr>
        <p:spPr>
          <a:xfrm rot="19500000">
            <a:off x="4526280" y="1965960"/>
            <a:ext cx="1508760" cy="438912"/>
          </a:xfrm>
          <a:prstGeom prst="rightArrow">
            <a:avLst/>
          </a:prstGeom>
          <a:solidFill>
            <a:srgbClr val="FFE699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34272" y="1847088"/>
            <a:ext cx="1600200" cy="1280160"/>
          </a:xfrm>
          <a:prstGeom prst="roundRect">
            <a:avLst/>
          </a:prstGeom>
          <a:solidFill>
            <a:srgbClr val="EBF4FD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993392"/>
            <a:ext cx="128016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A6A6"/>
                </a:solidFill>
                <a:latin typeface="Microsoft YaHei"/>
              </a:rPr>
              <a:t>产品名称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67712"/>
            <a:ext cx="12801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4546A"/>
                </a:solidFill>
                <a:latin typeface="Microsoft YaHei"/>
              </a:rPr>
              <a:t>产品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688336"/>
            <a:ext cx="132588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A6A6A6"/>
                </a:solidFill>
                <a:latin typeface="Microsoft YaHei"/>
              </a:rPr>
              <a:t>备注：可替换为实际产品名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3438144"/>
            <a:ext cx="1600200" cy="1389888"/>
          </a:xfrm>
          <a:prstGeom prst="roundRect">
            <a:avLst/>
          </a:prstGeom>
          <a:solidFill>
            <a:srgbClr val="EDF7EB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566160"/>
            <a:ext cx="128016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A6A6"/>
                </a:solidFill>
                <a:latin typeface="Microsoft YaHei"/>
              </a:rPr>
              <a:t>数据口径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822191"/>
            <a:ext cx="1280160" cy="23774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70AD47"/>
                </a:solidFill>
                <a:latin typeface="Microsoft YaHei"/>
              </a:rPr>
              <a:t>CPK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4242816"/>
            <a:ext cx="132588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A6A6A6"/>
                </a:solidFill>
                <a:latin typeface="Microsoft YaHei"/>
              </a:rPr>
              <a:t>优化前/优化后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5742432"/>
            <a:ext cx="10058400" cy="310896"/>
          </a:xfrm>
          <a:prstGeom prst="roundRect">
            <a:avLst/>
          </a:prstGeom>
          <a:solidFill>
            <a:srgbClr val="F9FBFE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15584"/>
            <a:ext cx="9692640" cy="14630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填充提示：将 1.37、1.43 和提升幅度替换为该产品真实 CPK 数据；需要更多产品时可复制本页。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01168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03 CPK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315200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Microsoft YaHei"/>
              </a:rPr>
              <a:t>产品 C CPK 优化幅度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93268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按图二样式复制，产品名称、优化前后数值和提升幅度均可直接替换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143000"/>
            <a:ext cx="10954512" cy="0"/>
          </a:xfrm>
          <a:prstGeom prst="line">
            <a:avLst/>
          </a:prstGeom>
          <a:ln w="1270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54864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A6A6A6"/>
                </a:solidFill>
                <a:latin typeface="Microsoft YaHei"/>
              </a:rP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78992"/>
            <a:ext cx="964692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664208" y="1901952"/>
            <a:ext cx="0" cy="3429000"/>
          </a:xfrm>
          <a:prstGeom prst="line">
            <a:avLst/>
          </a:prstGeom>
          <a:ln w="1524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64208" y="5330952"/>
            <a:ext cx="7086600" cy="0"/>
          </a:xfrm>
          <a:prstGeom prst="line">
            <a:avLst/>
          </a:prstGeom>
          <a:ln w="15240">
            <a:solidFill>
              <a:srgbClr val="D6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71800" y="3120255"/>
            <a:ext cx="1508760" cy="2210696"/>
          </a:xfrm>
          <a:prstGeom prst="rect">
            <a:avLst/>
          </a:prstGeom>
          <a:solidFill>
            <a:srgbClr val="A6A6A6"/>
          </a:solidFill>
          <a:ln w="762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3023436"/>
            <a:ext cx="1508760" cy="2307515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800215"/>
            <a:ext cx="150876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Microsoft YaHei"/>
              </a:rPr>
              <a:t>1.37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703396"/>
            <a:ext cx="150876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Microsoft YaHei"/>
              </a:rPr>
              <a:t>1.43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495544"/>
            <a:ext cx="150876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6A6A6"/>
                </a:solidFill>
                <a:latin typeface="Microsoft YaHei"/>
              </a:rPr>
              <a:t>优化前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5495544"/>
            <a:ext cx="150876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6A6A6"/>
                </a:solidFill>
                <a:latin typeface="Microsoft YaHei"/>
              </a:rPr>
              <a:t>优化后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572768"/>
            <a:ext cx="1463040" cy="23774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B9BD5"/>
                </a:solidFill>
                <a:latin typeface="Microsoft YaHei"/>
              </a:rPr>
              <a:t>提升幅度 4%</a:t>
            </a:r>
          </a:p>
        </p:txBody>
      </p:sp>
      <p:sp>
        <p:nvSpPr>
          <p:cNvPr id="18" name="Right Arrow 17"/>
          <p:cNvSpPr/>
          <p:nvPr/>
        </p:nvSpPr>
        <p:spPr>
          <a:xfrm rot="19500000">
            <a:off x="4526280" y="1965960"/>
            <a:ext cx="1508760" cy="438912"/>
          </a:xfrm>
          <a:prstGeom prst="rightArrow">
            <a:avLst/>
          </a:prstGeom>
          <a:solidFill>
            <a:srgbClr val="FFE699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34272" y="1847088"/>
            <a:ext cx="1600200" cy="1280160"/>
          </a:xfrm>
          <a:prstGeom prst="roundRect">
            <a:avLst/>
          </a:prstGeom>
          <a:solidFill>
            <a:srgbClr val="EBF4FD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993392"/>
            <a:ext cx="128016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A6A6"/>
                </a:solidFill>
                <a:latin typeface="Microsoft YaHei"/>
              </a:rPr>
              <a:t>产品名称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67712"/>
            <a:ext cx="12801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4546A"/>
                </a:solidFill>
                <a:latin typeface="Microsoft YaHei"/>
              </a:rPr>
              <a:t>产品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688336"/>
            <a:ext cx="132588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A6A6A6"/>
                </a:solidFill>
                <a:latin typeface="Microsoft YaHei"/>
              </a:rPr>
              <a:t>备注：可替换为实际产品名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3438144"/>
            <a:ext cx="1600200" cy="1389888"/>
          </a:xfrm>
          <a:prstGeom prst="roundRect">
            <a:avLst/>
          </a:prstGeom>
          <a:solidFill>
            <a:srgbClr val="EDF7EB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566160"/>
            <a:ext cx="128016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A6A6"/>
                </a:solidFill>
                <a:latin typeface="Microsoft YaHei"/>
              </a:rPr>
              <a:t>数据口径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822191"/>
            <a:ext cx="1280160" cy="23774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70AD47"/>
                </a:solidFill>
                <a:latin typeface="Microsoft YaHei"/>
              </a:rPr>
              <a:t>CPK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4242816"/>
            <a:ext cx="132588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A6A6A6"/>
                </a:solidFill>
                <a:latin typeface="Microsoft YaHei"/>
              </a:rPr>
              <a:t>优化前/优化后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5742432"/>
            <a:ext cx="10058400" cy="310896"/>
          </a:xfrm>
          <a:prstGeom prst="roundRect">
            <a:avLst/>
          </a:prstGeom>
          <a:solidFill>
            <a:srgbClr val="F9FBFE"/>
          </a:solidFill>
          <a:ln w="10160">
            <a:solidFill>
              <a:srgbClr val="D6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15584"/>
            <a:ext cx="9692640" cy="146304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6A6A6"/>
                </a:solidFill>
                <a:latin typeface="Microsoft YaHei"/>
              </a:rPr>
              <a:t>填充提示：将 1.37、1.43 和提升幅度替换为该产品真实 CPK 数据；需要更多产品时可复制本页。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